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3"/>
  </p:notesMasterIdLst>
  <p:sldIdLst>
    <p:sldId id="256" r:id="rId2"/>
    <p:sldId id="268" r:id="rId3"/>
    <p:sldId id="257" r:id="rId4"/>
    <p:sldId id="269" r:id="rId5"/>
    <p:sldId id="258" r:id="rId6"/>
    <p:sldId id="260" r:id="rId7"/>
    <p:sldId id="262" r:id="rId8"/>
    <p:sldId id="263" r:id="rId9"/>
    <p:sldId id="264" r:id="rId10"/>
    <p:sldId id="266" r:id="rId11"/>
    <p:sldId id="267" r:id="rId1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2" d="100"/>
          <a:sy n="122" d="100"/>
        </p:scale>
        <p:origin x="326" y="43"/>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a81745cbfe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a81745cbfe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323FF7AC-69F5-12FA-FA0D-25FAE02ADE21}"/>
            </a:ext>
          </a:extLst>
        </p:cNvPr>
        <p:cNvGrpSpPr/>
        <p:nvPr/>
      </p:nvGrpSpPr>
      <p:grpSpPr>
        <a:xfrm>
          <a:off x="0" y="0"/>
          <a:ext cx="0" cy="0"/>
          <a:chOff x="0" y="0"/>
          <a:chExt cx="0" cy="0"/>
        </a:xfrm>
      </p:grpSpPr>
      <p:sp>
        <p:nvSpPr>
          <p:cNvPr id="57" name="Google Shape;57;g3a81745cbfe_0_5:notes">
            <a:extLst>
              <a:ext uri="{FF2B5EF4-FFF2-40B4-BE49-F238E27FC236}">
                <a16:creationId xmlns:a16="http://schemas.microsoft.com/office/drawing/2014/main" id="{943ACAF7-1E2C-C383-3545-25940D65A2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a81745cbfe_0_5:notes">
            <a:extLst>
              <a:ext uri="{FF2B5EF4-FFF2-40B4-BE49-F238E27FC236}">
                <a16:creationId xmlns:a16="http://schemas.microsoft.com/office/drawing/2014/main" id="{6851BFA3-409F-B525-6074-6D67BADA229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837736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a81745cbfe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a81745cbfe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3ab85513151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3ab8551315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ab85513151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ab85513151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ab85513151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ab85513151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ab85513151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ab85513151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ab85513151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ab85513151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ab85513151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3ab85513151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s://ai.google.dev/gemini-api/docs/quickstart"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dirty="0"/>
              <a:t>Project 2</a:t>
            </a:r>
            <a:endParaRPr dirty="0"/>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LLM - Pick and Place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DCEF7-4DAE-52ED-AAA7-78C149C0D529}"/>
              </a:ext>
            </a:extLst>
          </p:cNvPr>
          <p:cNvSpPr>
            <a:spLocks noGrp="1"/>
          </p:cNvSpPr>
          <p:nvPr>
            <p:ph type="title"/>
          </p:nvPr>
        </p:nvSpPr>
        <p:spPr/>
        <p:txBody>
          <a:bodyPr>
            <a:normAutofit fontScale="90000"/>
          </a:bodyPr>
          <a:lstStyle/>
          <a:p>
            <a:r>
              <a:rPr lang="en-US" dirty="0"/>
              <a:t>Project Goals:</a:t>
            </a:r>
          </a:p>
        </p:txBody>
      </p:sp>
      <p:sp>
        <p:nvSpPr>
          <p:cNvPr id="3" name="Text Placeholder 2">
            <a:extLst>
              <a:ext uri="{FF2B5EF4-FFF2-40B4-BE49-F238E27FC236}">
                <a16:creationId xmlns:a16="http://schemas.microsoft.com/office/drawing/2014/main" id="{05452D3A-5A81-EA16-E621-0C71903D3EEA}"/>
              </a:ext>
            </a:extLst>
          </p:cNvPr>
          <p:cNvSpPr>
            <a:spLocks noGrp="1"/>
          </p:cNvSpPr>
          <p:nvPr>
            <p:ph type="body" idx="1"/>
          </p:nvPr>
        </p:nvSpPr>
        <p:spPr/>
        <p:txBody>
          <a:bodyPr/>
          <a:lstStyle/>
          <a:p>
            <a:pPr marL="114300" indent="0">
              <a:buNone/>
            </a:pPr>
            <a:endParaRPr lang="en-US" dirty="0"/>
          </a:p>
          <a:p>
            <a:pPr marL="114300" indent="0">
              <a:buNone/>
            </a:pPr>
            <a:endParaRPr lang="en-US" dirty="0"/>
          </a:p>
          <a:p>
            <a:pPr marL="114300" indent="0">
              <a:buNone/>
            </a:pPr>
            <a:endParaRPr lang="en-US" dirty="0"/>
          </a:p>
          <a:p>
            <a:pPr marL="114300" indent="0">
              <a:buNone/>
            </a:pPr>
            <a:endParaRPr lang="en-US" dirty="0"/>
          </a:p>
          <a:p>
            <a:pPr marL="114300" indent="0">
              <a:buNone/>
            </a:pPr>
            <a:endParaRPr lang="en-US" dirty="0"/>
          </a:p>
          <a:p>
            <a:pPr marL="114300" indent="0">
              <a:buNone/>
            </a:pPr>
            <a:endParaRPr lang="en-US" dirty="0"/>
          </a:p>
          <a:p>
            <a:pPr marL="114300" indent="0">
              <a:buNone/>
            </a:pPr>
            <a:endParaRPr lang="en-US" dirty="0"/>
          </a:p>
          <a:p>
            <a:pPr marL="114300" indent="0">
              <a:buNone/>
            </a:pPr>
            <a:endParaRPr lang="en-US" dirty="0"/>
          </a:p>
        </p:txBody>
      </p:sp>
      <p:sp>
        <p:nvSpPr>
          <p:cNvPr id="5" name="Rectangle 2">
            <a:extLst>
              <a:ext uri="{FF2B5EF4-FFF2-40B4-BE49-F238E27FC236}">
                <a16:creationId xmlns:a16="http://schemas.microsoft.com/office/drawing/2014/main" id="{83E51AAA-D7ED-A8D6-B5B5-58C38898A76C}"/>
              </a:ext>
            </a:extLst>
          </p:cNvPr>
          <p:cNvSpPr>
            <a:spLocks noChangeArrowheads="1"/>
          </p:cNvSpPr>
          <p:nvPr/>
        </p:nvSpPr>
        <p:spPr bwMode="auto">
          <a:xfrm rot="10800000" flipV="1">
            <a:off x="360111" y="367188"/>
            <a:ext cx="7838173" cy="4024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25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With multiple blocks in the scene, the system should be able to pick a specific block and place it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 top of</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another specified block. </a:t>
            </a: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With multiple blocks in the scene, the system should be able to pick a specific block and place it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front of</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behind</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another specified block. </a:t>
            </a: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With multiple blocks in the scene, the system should be able to pick a specific block and place it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the left of</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the right of</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another specified block. </a:t>
            </a:r>
          </a:p>
        </p:txBody>
      </p:sp>
    </p:spTree>
    <p:extLst>
      <p:ext uri="{BB962C8B-B14F-4D97-AF65-F5344CB8AC3E}">
        <p14:creationId xmlns:p14="http://schemas.microsoft.com/office/powerpoint/2010/main" val="7026632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Using Gemini APIs</a:t>
            </a:r>
            <a:endParaRPr/>
          </a:p>
        </p:txBody>
      </p:sp>
      <p:sp>
        <p:nvSpPr>
          <p:cNvPr id="61" name="Google Shape;61;p14"/>
          <p:cNvSpPr txBox="1">
            <a:spLocks noGrp="1"/>
          </p:cNvSpPr>
          <p:nvPr>
            <p:ph type="body" idx="1"/>
          </p:nvPr>
        </p:nvSpPr>
        <p:spPr>
          <a:xfrm>
            <a:off x="311700" y="1152475"/>
            <a:ext cx="47658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a:solidFill>
                  <a:schemeClr val="dk1"/>
                </a:solidFill>
              </a:rPr>
              <a:t>Step A) Installation</a:t>
            </a:r>
            <a:endParaRPr sz="1200">
              <a:solidFill>
                <a:schemeClr val="dk1"/>
              </a:solidFill>
            </a:endParaRPr>
          </a:p>
          <a:p>
            <a:pPr marL="457200" lvl="0" indent="-304800" algn="l" rtl="0">
              <a:spcBef>
                <a:spcPts val="1200"/>
              </a:spcBef>
              <a:spcAft>
                <a:spcPts val="0"/>
              </a:spcAft>
              <a:buClr>
                <a:schemeClr val="dk1"/>
              </a:buClr>
              <a:buSzPts val="1200"/>
              <a:buAutoNum type="arabicParenR"/>
            </a:pPr>
            <a:r>
              <a:rPr lang="en" sz="1200">
                <a:solidFill>
                  <a:schemeClr val="dk1"/>
                </a:solidFill>
              </a:rPr>
              <a:t>pip install -q -U google-genai</a:t>
            </a:r>
            <a:endParaRPr sz="1200">
              <a:solidFill>
                <a:schemeClr val="dk1"/>
              </a:solidFill>
            </a:endParaRPr>
          </a:p>
          <a:p>
            <a:pPr marL="457200" lvl="0" indent="-304800" algn="l" rtl="0">
              <a:spcBef>
                <a:spcPts val="0"/>
              </a:spcBef>
              <a:spcAft>
                <a:spcPts val="0"/>
              </a:spcAft>
              <a:buClr>
                <a:schemeClr val="dk1"/>
              </a:buClr>
              <a:buSzPts val="1200"/>
              <a:buAutoNum type="arabicParenR"/>
            </a:pPr>
            <a:r>
              <a:rPr lang="en" sz="1200">
                <a:solidFill>
                  <a:schemeClr val="dk1"/>
                </a:solidFill>
              </a:rPr>
              <a:t>pip install python-dotenv</a:t>
            </a:r>
            <a:endParaRPr sz="1200">
              <a:solidFill>
                <a:schemeClr val="dk1"/>
              </a:solidFill>
            </a:endParaRPr>
          </a:p>
          <a:p>
            <a:pPr marL="0" lvl="0" indent="0" algn="l" rtl="0">
              <a:spcBef>
                <a:spcPts val="1200"/>
              </a:spcBef>
              <a:spcAft>
                <a:spcPts val="0"/>
              </a:spcAft>
              <a:buNone/>
            </a:pPr>
            <a:r>
              <a:rPr lang="en" sz="1200">
                <a:solidFill>
                  <a:schemeClr val="dk1"/>
                </a:solidFill>
              </a:rPr>
              <a:t>Step B) Get API key:</a:t>
            </a:r>
            <a:endParaRPr sz="1200">
              <a:solidFill>
                <a:schemeClr val="dk1"/>
              </a:solidFill>
            </a:endParaRPr>
          </a:p>
          <a:p>
            <a:pPr marL="0" lvl="0" indent="0" algn="l" rtl="0">
              <a:spcBef>
                <a:spcPts val="1200"/>
              </a:spcBef>
              <a:spcAft>
                <a:spcPts val="0"/>
              </a:spcAft>
              <a:buNone/>
            </a:pPr>
            <a:r>
              <a:rPr lang="en" sz="1200">
                <a:solidFill>
                  <a:schemeClr val="dk1"/>
                </a:solidFill>
              </a:rPr>
              <a:t>Step C) create a .env file and paste your api key in a python file:</a:t>
            </a:r>
            <a:endParaRPr sz="1200">
              <a:solidFill>
                <a:schemeClr val="dk1"/>
              </a:solidFill>
            </a:endParaRPr>
          </a:p>
          <a:p>
            <a:pPr marL="0" lvl="0" indent="0" algn="l" rtl="0">
              <a:lnSpc>
                <a:spcPct val="135000"/>
              </a:lnSpc>
              <a:spcBef>
                <a:spcPts val="1200"/>
              </a:spcBef>
              <a:spcAft>
                <a:spcPts val="0"/>
              </a:spcAft>
              <a:buClr>
                <a:schemeClr val="dk1"/>
              </a:buClr>
              <a:buSzPts val="1100"/>
              <a:buFont typeface="Arial"/>
              <a:buNone/>
            </a:pPr>
            <a:r>
              <a:rPr lang="en" sz="1500">
                <a:solidFill>
                  <a:srgbClr val="569CD6"/>
                </a:solidFill>
                <a:highlight>
                  <a:srgbClr val="1F1F1F"/>
                </a:highlight>
                <a:latin typeface="Courier New"/>
                <a:ea typeface="Courier New"/>
                <a:cs typeface="Courier New"/>
                <a:sym typeface="Courier New"/>
              </a:rPr>
              <a:t>GEMINI_API_KEY</a:t>
            </a:r>
            <a:r>
              <a:rPr lang="en" sz="1500">
                <a:solidFill>
                  <a:srgbClr val="CCCCCC"/>
                </a:solidFill>
                <a:highlight>
                  <a:srgbClr val="1F1F1F"/>
                </a:highlight>
                <a:latin typeface="Courier New"/>
                <a:ea typeface="Courier New"/>
                <a:cs typeface="Courier New"/>
                <a:sym typeface="Courier New"/>
              </a:rPr>
              <a:t>= your key </a:t>
            </a:r>
            <a:endParaRPr sz="1500">
              <a:solidFill>
                <a:srgbClr val="CCCCCC"/>
              </a:solidFill>
              <a:highlight>
                <a:srgbClr val="1F1F1F"/>
              </a:highlight>
              <a:latin typeface="Courier New"/>
              <a:ea typeface="Courier New"/>
              <a:cs typeface="Courier New"/>
              <a:sym typeface="Courier New"/>
            </a:endParaRPr>
          </a:p>
          <a:p>
            <a:pPr marL="0" lvl="0" indent="0" algn="l" rtl="0">
              <a:spcBef>
                <a:spcPts val="0"/>
              </a:spcBef>
              <a:spcAft>
                <a:spcPts val="1200"/>
              </a:spcAft>
              <a:buNone/>
            </a:pPr>
            <a:endParaRPr sz="1200">
              <a:solidFill>
                <a:schemeClr val="dk1"/>
              </a:solidFill>
            </a:endParaRPr>
          </a:p>
        </p:txBody>
      </p:sp>
      <p:pic>
        <p:nvPicPr>
          <p:cNvPr id="62" name="Google Shape;62;p14"/>
          <p:cNvPicPr preferRelativeResize="0"/>
          <p:nvPr/>
        </p:nvPicPr>
        <p:blipFill>
          <a:blip r:embed="rId3">
            <a:alphaModFix/>
          </a:blip>
          <a:stretch>
            <a:fillRect/>
          </a:stretch>
        </p:blipFill>
        <p:spPr>
          <a:xfrm>
            <a:off x="402400" y="3240525"/>
            <a:ext cx="8429899" cy="121320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9">
          <a:extLst>
            <a:ext uri="{FF2B5EF4-FFF2-40B4-BE49-F238E27FC236}">
              <a16:creationId xmlns:a16="http://schemas.microsoft.com/office/drawing/2014/main" id="{2E27BF0B-71EF-F4C7-D666-8F97842AB725}"/>
            </a:ext>
          </a:extLst>
        </p:cNvPr>
        <p:cNvGrpSpPr/>
        <p:nvPr/>
      </p:nvGrpSpPr>
      <p:grpSpPr>
        <a:xfrm>
          <a:off x="0" y="0"/>
          <a:ext cx="0" cy="0"/>
          <a:chOff x="0" y="0"/>
          <a:chExt cx="0" cy="0"/>
        </a:xfrm>
      </p:grpSpPr>
      <p:sp>
        <p:nvSpPr>
          <p:cNvPr id="60" name="Google Shape;60;p14">
            <a:extLst>
              <a:ext uri="{FF2B5EF4-FFF2-40B4-BE49-F238E27FC236}">
                <a16:creationId xmlns:a16="http://schemas.microsoft.com/office/drawing/2014/main" id="{B026B00A-D22E-E103-CB9A-D864EBD17AC4}"/>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Using Gemini APIs</a:t>
            </a:r>
            <a:endParaRPr/>
          </a:p>
        </p:txBody>
      </p:sp>
      <p:sp>
        <p:nvSpPr>
          <p:cNvPr id="61" name="Google Shape;61;p14">
            <a:extLst>
              <a:ext uri="{FF2B5EF4-FFF2-40B4-BE49-F238E27FC236}">
                <a16:creationId xmlns:a16="http://schemas.microsoft.com/office/drawing/2014/main" id="{2EB288A8-28EE-8EC2-F7A0-384601317446}"/>
              </a:ext>
            </a:extLst>
          </p:cNvPr>
          <p:cNvSpPr txBox="1">
            <a:spLocks noGrp="1"/>
          </p:cNvSpPr>
          <p:nvPr>
            <p:ph type="body" idx="1"/>
          </p:nvPr>
        </p:nvSpPr>
        <p:spPr>
          <a:xfrm>
            <a:off x="311700" y="1152475"/>
            <a:ext cx="47658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sz="1200" dirty="0">
                <a:solidFill>
                  <a:schemeClr val="dk1"/>
                </a:solidFill>
              </a:rPr>
              <a:t>Gemini API Limitations:</a:t>
            </a:r>
            <a:br>
              <a:rPr lang="en-US" sz="1200" dirty="0">
                <a:solidFill>
                  <a:schemeClr val="dk1"/>
                </a:solidFill>
              </a:rPr>
            </a:br>
            <a:r>
              <a:rPr lang="en-US" sz="1200" dirty="0">
                <a:solidFill>
                  <a:schemeClr val="dk1"/>
                </a:solidFill>
              </a:rPr>
              <a:t>1 – With free version, you only get 20 calls per day for each key</a:t>
            </a:r>
          </a:p>
          <a:p>
            <a:pPr marL="0" lvl="0" indent="0" algn="l" rtl="0">
              <a:spcBef>
                <a:spcPts val="0"/>
              </a:spcBef>
              <a:spcAft>
                <a:spcPts val="0"/>
              </a:spcAft>
              <a:buNone/>
            </a:pPr>
            <a:r>
              <a:rPr lang="en-US" sz="1200" dirty="0">
                <a:solidFill>
                  <a:schemeClr val="dk1"/>
                </a:solidFill>
              </a:rPr>
              <a:t>2 – You can make 6 keys ( 1 key per project)</a:t>
            </a:r>
          </a:p>
          <a:p>
            <a:pPr marL="0" lvl="0" indent="0" algn="l" rtl="0">
              <a:spcBef>
                <a:spcPts val="0"/>
              </a:spcBef>
              <a:spcAft>
                <a:spcPts val="0"/>
              </a:spcAft>
              <a:buNone/>
            </a:pPr>
            <a:endParaRPr sz="1200" dirty="0">
              <a:solidFill>
                <a:schemeClr val="dk1"/>
              </a:solidFill>
            </a:endParaRPr>
          </a:p>
          <a:p>
            <a:pPr marL="0" lvl="0" indent="0" algn="l" rtl="0">
              <a:lnSpc>
                <a:spcPct val="135000"/>
              </a:lnSpc>
              <a:spcBef>
                <a:spcPts val="1200"/>
              </a:spcBef>
              <a:spcAft>
                <a:spcPts val="0"/>
              </a:spcAft>
              <a:buClr>
                <a:schemeClr val="dk1"/>
              </a:buClr>
              <a:buSzPts val="1100"/>
              <a:buFont typeface="Arial"/>
              <a:buNone/>
            </a:pPr>
            <a:r>
              <a:rPr lang="en" sz="1500" dirty="0">
                <a:solidFill>
                  <a:srgbClr val="569CD6"/>
                </a:solidFill>
                <a:highlight>
                  <a:srgbClr val="1F1F1F"/>
                </a:highlight>
                <a:latin typeface="Courier New"/>
                <a:ea typeface="Courier New"/>
                <a:cs typeface="Courier New"/>
                <a:sym typeface="Courier New"/>
              </a:rPr>
              <a:t>GEMINI_API_KEY</a:t>
            </a:r>
            <a:r>
              <a:rPr lang="en" sz="1500" dirty="0">
                <a:solidFill>
                  <a:srgbClr val="CCCCCC"/>
                </a:solidFill>
                <a:highlight>
                  <a:srgbClr val="1F1F1F"/>
                </a:highlight>
                <a:latin typeface="Courier New"/>
                <a:ea typeface="Courier New"/>
                <a:cs typeface="Courier New"/>
                <a:sym typeface="Courier New"/>
              </a:rPr>
              <a:t>= your key </a:t>
            </a:r>
            <a:endParaRPr sz="1500" dirty="0">
              <a:solidFill>
                <a:srgbClr val="CCCCCC"/>
              </a:solidFill>
              <a:highlight>
                <a:srgbClr val="1F1F1F"/>
              </a:highlight>
              <a:latin typeface="Courier New"/>
              <a:ea typeface="Courier New"/>
              <a:cs typeface="Courier New"/>
              <a:sym typeface="Courier New"/>
            </a:endParaRPr>
          </a:p>
          <a:p>
            <a:pPr marL="0" lvl="0" indent="0" algn="l" rtl="0">
              <a:spcBef>
                <a:spcPts val="0"/>
              </a:spcBef>
              <a:spcAft>
                <a:spcPts val="1200"/>
              </a:spcAft>
              <a:buNone/>
            </a:pPr>
            <a:endParaRPr sz="1200" dirty="0">
              <a:solidFill>
                <a:schemeClr val="dk1"/>
              </a:solidFill>
            </a:endParaRPr>
          </a:p>
        </p:txBody>
      </p:sp>
      <p:pic>
        <p:nvPicPr>
          <p:cNvPr id="62" name="Google Shape;62;p14">
            <a:extLst>
              <a:ext uri="{FF2B5EF4-FFF2-40B4-BE49-F238E27FC236}">
                <a16:creationId xmlns:a16="http://schemas.microsoft.com/office/drawing/2014/main" id="{AEF37CFA-8CDD-2672-029D-92D2E9B619CF}"/>
              </a:ext>
            </a:extLst>
          </p:cNvPr>
          <p:cNvPicPr preferRelativeResize="0"/>
          <p:nvPr/>
        </p:nvPicPr>
        <p:blipFill>
          <a:blip r:embed="rId3">
            <a:alphaModFix/>
          </a:blip>
          <a:stretch>
            <a:fillRect/>
          </a:stretch>
        </p:blipFill>
        <p:spPr>
          <a:xfrm>
            <a:off x="402400" y="3240525"/>
            <a:ext cx="8429899" cy="1213209"/>
          </a:xfrm>
          <a:prstGeom prst="rect">
            <a:avLst/>
          </a:prstGeom>
          <a:noFill/>
          <a:ln>
            <a:noFill/>
          </a:ln>
        </p:spPr>
      </p:pic>
    </p:spTree>
    <p:extLst>
      <p:ext uri="{BB962C8B-B14F-4D97-AF65-F5344CB8AC3E}">
        <p14:creationId xmlns:p14="http://schemas.microsoft.com/office/powerpoint/2010/main" val="22486501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Using Gemini APIs</a:t>
            </a:r>
            <a:endParaRPr/>
          </a:p>
        </p:txBody>
      </p:sp>
      <p:sp>
        <p:nvSpPr>
          <p:cNvPr id="68" name="Google Shape;68;p15"/>
          <p:cNvSpPr txBox="1">
            <a:spLocks noGrp="1"/>
          </p:cNvSpPr>
          <p:nvPr>
            <p:ph type="body" idx="1"/>
          </p:nvPr>
        </p:nvSpPr>
        <p:spPr>
          <a:xfrm>
            <a:off x="311700" y="1152475"/>
            <a:ext cx="34800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a:solidFill>
                  <a:schemeClr val="dk1"/>
                </a:solidFill>
              </a:rPr>
              <a:t>Your prompt will be in the contents variable, and you can access the response using the appropriate methods. Use the link to find out more:</a:t>
            </a:r>
            <a:endParaRPr sz="1200">
              <a:solidFill>
                <a:schemeClr val="dk1"/>
              </a:solidFill>
            </a:endParaRPr>
          </a:p>
          <a:p>
            <a:pPr marL="0" lvl="0" indent="0" algn="l" rtl="0">
              <a:spcBef>
                <a:spcPts val="1200"/>
              </a:spcBef>
              <a:spcAft>
                <a:spcPts val="0"/>
              </a:spcAft>
              <a:buNone/>
            </a:pPr>
            <a:r>
              <a:rPr lang="en" sz="1200">
                <a:solidFill>
                  <a:schemeClr val="dk1"/>
                </a:solidFill>
              </a:rPr>
              <a:t>Link: </a:t>
            </a:r>
            <a:r>
              <a:rPr lang="en" sz="1200" u="sng">
                <a:solidFill>
                  <a:schemeClr val="hlink"/>
                </a:solidFill>
                <a:hlinkClick r:id="rId3"/>
              </a:rPr>
              <a:t>https://ai.google.dev/gemini-api/docs/quickstart</a:t>
            </a:r>
            <a:endParaRPr sz="1200">
              <a:solidFill>
                <a:schemeClr val="dk1"/>
              </a:solidFill>
            </a:endParaRPr>
          </a:p>
          <a:p>
            <a:pPr marL="0" lvl="0" indent="0" algn="l" rtl="0">
              <a:spcBef>
                <a:spcPts val="1200"/>
              </a:spcBef>
              <a:spcAft>
                <a:spcPts val="1200"/>
              </a:spcAft>
              <a:buNone/>
            </a:pPr>
            <a:endParaRPr sz="1200">
              <a:solidFill>
                <a:schemeClr val="dk1"/>
              </a:solidFill>
            </a:endParaRPr>
          </a:p>
        </p:txBody>
      </p:sp>
      <p:pic>
        <p:nvPicPr>
          <p:cNvPr id="69" name="Google Shape;69;p15"/>
          <p:cNvPicPr preferRelativeResize="0"/>
          <p:nvPr/>
        </p:nvPicPr>
        <p:blipFill>
          <a:blip r:embed="rId4">
            <a:alphaModFix/>
          </a:blip>
          <a:stretch>
            <a:fillRect/>
          </a:stretch>
        </p:blipFill>
        <p:spPr>
          <a:xfrm>
            <a:off x="4361650" y="1153538"/>
            <a:ext cx="3884914" cy="2173262"/>
          </a:xfrm>
          <a:prstGeom prst="rect">
            <a:avLst/>
          </a:prstGeom>
          <a:noFill/>
          <a:ln>
            <a:noFill/>
          </a:ln>
        </p:spPr>
      </p:pic>
      <p:pic>
        <p:nvPicPr>
          <p:cNvPr id="70" name="Google Shape;70;p15"/>
          <p:cNvPicPr preferRelativeResize="0"/>
          <p:nvPr/>
        </p:nvPicPr>
        <p:blipFill>
          <a:blip r:embed="rId5">
            <a:alphaModFix/>
          </a:blip>
          <a:stretch>
            <a:fillRect/>
          </a:stretch>
        </p:blipFill>
        <p:spPr>
          <a:xfrm>
            <a:off x="406500" y="2867200"/>
            <a:ext cx="3290399" cy="152752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Files</a:t>
            </a:r>
            <a:endParaRPr/>
          </a:p>
        </p:txBody>
      </p:sp>
      <p:sp>
        <p:nvSpPr>
          <p:cNvPr id="82" name="Google Shape;82;p17"/>
          <p:cNvSpPr txBox="1">
            <a:spLocks noGrp="1"/>
          </p:cNvSpPr>
          <p:nvPr>
            <p:ph type="body" idx="1"/>
          </p:nvPr>
        </p:nvSpPr>
        <p:spPr>
          <a:xfrm>
            <a:off x="311700" y="1152475"/>
            <a:ext cx="5656200" cy="3416400"/>
          </a:xfrm>
          <a:prstGeom prst="rect">
            <a:avLst/>
          </a:prstGeom>
        </p:spPr>
        <p:txBody>
          <a:bodyPr spcFirstLastPara="1" wrap="square" lIns="91425" tIns="91425" rIns="91425" bIns="91425" anchor="t" anchorCtr="0">
            <a:normAutofit/>
          </a:bodyPr>
          <a:lstStyle/>
          <a:p>
            <a:pPr marL="457200" lvl="0" indent="-304800" algn="l" rtl="0">
              <a:spcBef>
                <a:spcPts val="0"/>
              </a:spcBef>
              <a:spcAft>
                <a:spcPts val="0"/>
              </a:spcAft>
              <a:buClr>
                <a:schemeClr val="dk1"/>
              </a:buClr>
              <a:buSzPts val="1200"/>
              <a:buChar char="●"/>
            </a:pPr>
            <a:r>
              <a:rPr lang="en" sz="1200">
                <a:solidFill>
                  <a:schemeClr val="dk1"/>
                </a:solidFill>
              </a:rPr>
              <a:t>Captures Folder - Holds the scene description in json file and save the frame as an image</a:t>
            </a:r>
            <a:endParaRPr sz="1200">
              <a:solidFill>
                <a:schemeClr val="dk1"/>
              </a:solidFill>
            </a:endParaRPr>
          </a:p>
          <a:p>
            <a:pPr marL="457200" lvl="0" indent="-304800" algn="l" rtl="0">
              <a:spcBef>
                <a:spcPts val="0"/>
              </a:spcBef>
              <a:spcAft>
                <a:spcPts val="0"/>
              </a:spcAft>
              <a:buClr>
                <a:schemeClr val="dk1"/>
              </a:buClr>
              <a:buSzPts val="1200"/>
              <a:buChar char="●"/>
            </a:pPr>
            <a:r>
              <a:rPr lang="en" sz="1200">
                <a:solidFill>
                  <a:schemeClr val="dk1"/>
                </a:solidFill>
              </a:rPr>
              <a:t>Helper_Functions - Not Used for this implementation. Useful when you are requesting a new python code from gemini.</a:t>
            </a:r>
            <a:endParaRPr sz="1200">
              <a:solidFill>
                <a:schemeClr val="dk1"/>
              </a:solidFill>
            </a:endParaRPr>
          </a:p>
          <a:p>
            <a:pPr marL="457200" lvl="0" indent="-304800" algn="l" rtl="0">
              <a:spcBef>
                <a:spcPts val="0"/>
              </a:spcBef>
              <a:spcAft>
                <a:spcPts val="0"/>
              </a:spcAft>
              <a:buClr>
                <a:schemeClr val="dk1"/>
              </a:buClr>
              <a:buSzPts val="1200"/>
              <a:buChar char="●"/>
            </a:pPr>
            <a:r>
              <a:rPr lang="en" sz="1200">
                <a:solidFill>
                  <a:schemeClr val="dk1"/>
                </a:solidFill>
              </a:rPr>
              <a:t>Robot_Tools - Functions for robot motion, camera capture and pick and place.</a:t>
            </a:r>
            <a:endParaRPr sz="1200">
              <a:solidFill>
                <a:schemeClr val="dk1"/>
              </a:solidFill>
            </a:endParaRPr>
          </a:p>
          <a:p>
            <a:pPr marL="457200" lvl="0" indent="-304800" algn="l" rtl="0">
              <a:spcBef>
                <a:spcPts val="0"/>
              </a:spcBef>
              <a:spcAft>
                <a:spcPts val="0"/>
              </a:spcAft>
              <a:buClr>
                <a:schemeClr val="dk1"/>
              </a:buClr>
              <a:buSzPts val="1200"/>
              <a:buChar char="●"/>
            </a:pPr>
            <a:r>
              <a:rPr lang="en" sz="1200">
                <a:solidFill>
                  <a:schemeClr val="dk1"/>
                </a:solidFill>
              </a:rPr>
              <a:t>.env file - Holds your Gemini API key.</a:t>
            </a:r>
            <a:endParaRPr sz="1200">
              <a:solidFill>
                <a:schemeClr val="dk1"/>
              </a:solidFill>
            </a:endParaRPr>
          </a:p>
          <a:p>
            <a:pPr marL="457200" lvl="0" indent="-304800" algn="l" rtl="0">
              <a:spcBef>
                <a:spcPts val="0"/>
              </a:spcBef>
              <a:spcAft>
                <a:spcPts val="0"/>
              </a:spcAft>
              <a:buClr>
                <a:schemeClr val="dk1"/>
              </a:buClr>
              <a:buSzPts val="1200"/>
              <a:buChar char="●"/>
            </a:pPr>
            <a:r>
              <a:rPr lang="en" sz="1200">
                <a:solidFill>
                  <a:schemeClr val="dk1"/>
                </a:solidFill>
              </a:rPr>
              <a:t>Call Function - The file take bridges between your helper function and gemini</a:t>
            </a:r>
            <a:endParaRPr sz="1200">
              <a:solidFill>
                <a:schemeClr val="dk1"/>
              </a:solidFill>
            </a:endParaRPr>
          </a:p>
          <a:p>
            <a:pPr marL="457200" lvl="0" indent="-304800" algn="l" rtl="0">
              <a:spcBef>
                <a:spcPts val="0"/>
              </a:spcBef>
              <a:spcAft>
                <a:spcPts val="0"/>
              </a:spcAft>
              <a:buClr>
                <a:schemeClr val="dk1"/>
              </a:buClr>
              <a:buSzPts val="1200"/>
              <a:buChar char="●"/>
            </a:pPr>
            <a:r>
              <a:rPr lang="en" sz="1200">
                <a:solidFill>
                  <a:schemeClr val="dk1"/>
                </a:solidFill>
              </a:rPr>
              <a:t>Config file - configuration of all the parameters for your robot (MAKE CHANGES HERE)</a:t>
            </a:r>
            <a:endParaRPr sz="1200">
              <a:solidFill>
                <a:schemeClr val="dk1"/>
              </a:solidFill>
            </a:endParaRPr>
          </a:p>
          <a:p>
            <a:pPr marL="457200" lvl="0" indent="-304800" algn="l" rtl="0">
              <a:spcBef>
                <a:spcPts val="0"/>
              </a:spcBef>
              <a:spcAft>
                <a:spcPts val="0"/>
              </a:spcAft>
              <a:buClr>
                <a:schemeClr val="dk1"/>
              </a:buClr>
              <a:buSzPts val="1200"/>
              <a:buChar char="●"/>
            </a:pPr>
            <a:r>
              <a:rPr lang="en" sz="1200">
                <a:solidFill>
                  <a:schemeClr val="dk1"/>
                </a:solidFill>
              </a:rPr>
              <a:t>LLM_ROBOT - The main that is being executed.</a:t>
            </a:r>
            <a:endParaRPr sz="1200">
              <a:solidFill>
                <a:schemeClr val="dk1"/>
              </a:solidFill>
            </a:endParaRPr>
          </a:p>
        </p:txBody>
      </p:sp>
      <p:pic>
        <p:nvPicPr>
          <p:cNvPr id="83" name="Google Shape;83;p17"/>
          <p:cNvPicPr preferRelativeResize="0"/>
          <p:nvPr/>
        </p:nvPicPr>
        <p:blipFill>
          <a:blip r:embed="rId3">
            <a:alphaModFix/>
          </a:blip>
          <a:stretch>
            <a:fillRect/>
          </a:stretch>
        </p:blipFill>
        <p:spPr>
          <a:xfrm>
            <a:off x="6153225" y="1017725"/>
            <a:ext cx="2581896" cy="38209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Task 1 - Block Detection - </a:t>
            </a:r>
            <a:r>
              <a:rPr lang="en" sz="2200" b="1">
                <a:highlight>
                  <a:srgbClr val="FFFF00"/>
                </a:highlight>
              </a:rPr>
              <a:t>MAKE CHANGES ACCORDINGLY </a:t>
            </a:r>
            <a:endParaRPr sz="2200" b="1">
              <a:highlight>
                <a:srgbClr val="FFFF00"/>
              </a:highlight>
            </a:endParaRPr>
          </a:p>
          <a:p>
            <a:pPr marL="0" lvl="0" indent="0" algn="l" rtl="0">
              <a:spcBef>
                <a:spcPts val="0"/>
              </a:spcBef>
              <a:spcAft>
                <a:spcPts val="0"/>
              </a:spcAft>
              <a:buNone/>
            </a:pPr>
            <a:endParaRPr/>
          </a:p>
        </p:txBody>
      </p:sp>
      <p:sp>
        <p:nvSpPr>
          <p:cNvPr id="96" name="Google Shape;96;p19"/>
          <p:cNvSpPr txBox="1">
            <a:spLocks noGrp="1"/>
          </p:cNvSpPr>
          <p:nvPr>
            <p:ph type="body" idx="1"/>
          </p:nvPr>
        </p:nvSpPr>
        <p:spPr>
          <a:xfrm>
            <a:off x="311700" y="1152475"/>
            <a:ext cx="8351400" cy="875400"/>
          </a:xfrm>
          <a:prstGeom prst="rect">
            <a:avLst/>
          </a:prstGeom>
        </p:spPr>
        <p:txBody>
          <a:bodyPr spcFirstLastPara="1" wrap="square" lIns="91425" tIns="91425" rIns="91425" bIns="91425" anchor="t" anchorCtr="0">
            <a:normAutofit/>
          </a:bodyPr>
          <a:lstStyle/>
          <a:p>
            <a:pPr marL="457200" lvl="0" indent="-304800" algn="l" rtl="0">
              <a:spcBef>
                <a:spcPts val="0"/>
              </a:spcBef>
              <a:spcAft>
                <a:spcPts val="0"/>
              </a:spcAft>
              <a:buClr>
                <a:schemeClr val="dk1"/>
              </a:buClr>
              <a:buSzPts val="1200"/>
              <a:buChar char="●"/>
            </a:pPr>
            <a:r>
              <a:rPr lang="en" sz="1200">
                <a:solidFill>
                  <a:schemeClr val="dk1"/>
                </a:solidFill>
              </a:rPr>
              <a:t>In this implementation, we are identifying colors of the block and getting their centroids.</a:t>
            </a:r>
            <a:endParaRPr sz="1200">
              <a:solidFill>
                <a:schemeClr val="dk1"/>
              </a:solidFill>
            </a:endParaRPr>
          </a:p>
          <a:p>
            <a:pPr marL="457200" lvl="0" indent="-304800" algn="l" rtl="0">
              <a:spcBef>
                <a:spcPts val="0"/>
              </a:spcBef>
              <a:spcAft>
                <a:spcPts val="0"/>
              </a:spcAft>
              <a:buClr>
                <a:schemeClr val="dk1"/>
              </a:buClr>
              <a:buSzPts val="1200"/>
              <a:buChar char="●"/>
            </a:pPr>
            <a:r>
              <a:rPr lang="en" sz="1200">
                <a:solidFill>
                  <a:schemeClr val="dk1"/>
                </a:solidFill>
              </a:rPr>
              <a:t>You can modify this block of code for fine tuning the coloring detection.</a:t>
            </a:r>
            <a:endParaRPr sz="1200">
              <a:solidFill>
                <a:schemeClr val="dk1"/>
              </a:solidFill>
            </a:endParaRPr>
          </a:p>
          <a:p>
            <a:pPr marL="457200" lvl="0" indent="-304800" algn="l" rtl="0">
              <a:spcBef>
                <a:spcPts val="0"/>
              </a:spcBef>
              <a:spcAft>
                <a:spcPts val="0"/>
              </a:spcAft>
              <a:buClr>
                <a:schemeClr val="dk1"/>
              </a:buClr>
              <a:buSzPts val="1200"/>
              <a:buChar char="●"/>
            </a:pPr>
            <a:r>
              <a:rPr lang="en" sz="1200">
                <a:solidFill>
                  <a:schemeClr val="dk1"/>
                </a:solidFill>
              </a:rPr>
              <a:t>This function block is located in the Camera_Capture_Tools.py file</a:t>
            </a:r>
            <a:endParaRPr sz="1200">
              <a:solidFill>
                <a:schemeClr val="dk1"/>
              </a:solidFill>
            </a:endParaRPr>
          </a:p>
        </p:txBody>
      </p:sp>
      <p:pic>
        <p:nvPicPr>
          <p:cNvPr id="97" name="Google Shape;97;p19"/>
          <p:cNvPicPr preferRelativeResize="0"/>
          <p:nvPr/>
        </p:nvPicPr>
        <p:blipFill>
          <a:blip r:embed="rId3">
            <a:alphaModFix/>
          </a:blip>
          <a:stretch>
            <a:fillRect/>
          </a:stretch>
        </p:blipFill>
        <p:spPr>
          <a:xfrm>
            <a:off x="1100300" y="2162625"/>
            <a:ext cx="6596027" cy="25885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Task 2 - Understanding the scene</a:t>
            </a:r>
            <a:endParaRPr/>
          </a:p>
          <a:p>
            <a:pPr marL="0" lvl="0" indent="0" algn="l" rtl="0">
              <a:spcBef>
                <a:spcPts val="0"/>
              </a:spcBef>
              <a:spcAft>
                <a:spcPts val="0"/>
              </a:spcAft>
              <a:buNone/>
            </a:pPr>
            <a:endParaRPr/>
          </a:p>
        </p:txBody>
      </p:sp>
      <p:sp>
        <p:nvSpPr>
          <p:cNvPr id="103" name="Google Shape;103;p20"/>
          <p:cNvSpPr txBox="1">
            <a:spLocks noGrp="1"/>
          </p:cNvSpPr>
          <p:nvPr>
            <p:ph type="body" idx="1"/>
          </p:nvPr>
        </p:nvSpPr>
        <p:spPr>
          <a:xfrm>
            <a:off x="311700" y="1152475"/>
            <a:ext cx="8520600" cy="10977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Char char="●"/>
            </a:pPr>
            <a:r>
              <a:rPr lang="en" sz="1200">
                <a:solidFill>
                  <a:schemeClr val="dk1"/>
                </a:solidFill>
              </a:rPr>
              <a:t>User Prompt  - User request for the llm to process. It is pass as an argument within the command line in the form of a string. </a:t>
            </a:r>
            <a:r>
              <a:rPr lang="en" sz="1200" b="1">
                <a:solidFill>
                  <a:schemeClr val="dk1"/>
                </a:solidFill>
              </a:rPr>
              <a:t>Eg: python3 LLM_ROBOT.py “Understand the scene” </a:t>
            </a:r>
            <a:endParaRPr sz="1200" b="1">
              <a:solidFill>
                <a:schemeClr val="dk1"/>
              </a:solidFill>
            </a:endParaRPr>
          </a:p>
          <a:p>
            <a:pPr marL="457200" lvl="0" indent="-304800" algn="l" rtl="0">
              <a:spcBef>
                <a:spcPts val="0"/>
              </a:spcBef>
              <a:spcAft>
                <a:spcPts val="0"/>
              </a:spcAft>
              <a:buClr>
                <a:schemeClr val="dk1"/>
              </a:buClr>
              <a:buSzPts val="1200"/>
              <a:buChar char="●"/>
            </a:pPr>
            <a:r>
              <a:rPr lang="en" sz="1200">
                <a:solidFill>
                  <a:schemeClr val="dk1"/>
                </a:solidFill>
              </a:rPr>
              <a:t>It opens up a camera window and waits for 10 seconds to capture the frame. This time can be changed in the config file. Click “q” to quit and you will get the model output as,</a:t>
            </a:r>
            <a:endParaRPr sz="1200">
              <a:solidFill>
                <a:schemeClr val="dk1"/>
              </a:solidFill>
            </a:endParaRPr>
          </a:p>
        </p:txBody>
      </p:sp>
      <p:pic>
        <p:nvPicPr>
          <p:cNvPr id="104" name="Google Shape;104;p20"/>
          <p:cNvPicPr preferRelativeResize="0"/>
          <p:nvPr/>
        </p:nvPicPr>
        <p:blipFill>
          <a:blip r:embed="rId3">
            <a:alphaModFix/>
          </a:blip>
          <a:stretch>
            <a:fillRect/>
          </a:stretch>
        </p:blipFill>
        <p:spPr>
          <a:xfrm>
            <a:off x="0" y="2384925"/>
            <a:ext cx="3322149" cy="2588525"/>
          </a:xfrm>
          <a:prstGeom prst="rect">
            <a:avLst/>
          </a:prstGeom>
          <a:noFill/>
          <a:ln>
            <a:noFill/>
          </a:ln>
        </p:spPr>
      </p:pic>
      <p:pic>
        <p:nvPicPr>
          <p:cNvPr id="105" name="Google Shape;105;p20"/>
          <p:cNvPicPr preferRelativeResize="0"/>
          <p:nvPr/>
        </p:nvPicPr>
        <p:blipFill>
          <a:blip r:embed="rId4">
            <a:alphaModFix/>
          </a:blip>
          <a:stretch>
            <a:fillRect/>
          </a:stretch>
        </p:blipFill>
        <p:spPr>
          <a:xfrm>
            <a:off x="3643300" y="2910888"/>
            <a:ext cx="5142425" cy="15366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Task 2 - Understanding the scene</a:t>
            </a:r>
            <a:endParaRPr/>
          </a:p>
          <a:p>
            <a:pPr marL="0" lvl="0" indent="0" algn="l" rtl="0">
              <a:spcBef>
                <a:spcPts val="0"/>
              </a:spcBef>
              <a:spcAft>
                <a:spcPts val="0"/>
              </a:spcAft>
              <a:buNone/>
            </a:pPr>
            <a:endParaRPr/>
          </a:p>
        </p:txBody>
      </p:sp>
      <p:sp>
        <p:nvSpPr>
          <p:cNvPr id="111" name="Google Shape;111;p21"/>
          <p:cNvSpPr txBox="1">
            <a:spLocks noGrp="1"/>
          </p:cNvSpPr>
          <p:nvPr>
            <p:ph type="body" idx="1"/>
          </p:nvPr>
        </p:nvSpPr>
        <p:spPr>
          <a:xfrm>
            <a:off x="311700" y="1152475"/>
            <a:ext cx="8520600" cy="1097700"/>
          </a:xfrm>
          <a:prstGeom prst="rect">
            <a:avLst/>
          </a:prstGeom>
        </p:spPr>
        <p:txBody>
          <a:bodyPr spcFirstLastPara="1" wrap="square" lIns="91425" tIns="91425" rIns="91425" bIns="91425" anchor="t" anchorCtr="0">
            <a:normAutofit fontScale="85000" lnSpcReduction="20000"/>
          </a:bodyPr>
          <a:lstStyle/>
          <a:p>
            <a:pPr marL="457200" lvl="0" indent="-304800" algn="l" rtl="0">
              <a:spcBef>
                <a:spcPts val="0"/>
              </a:spcBef>
              <a:spcAft>
                <a:spcPts val="0"/>
              </a:spcAft>
              <a:buClr>
                <a:schemeClr val="dk1"/>
              </a:buClr>
              <a:buSzPts val="1200"/>
              <a:buChar char="●"/>
            </a:pPr>
            <a:r>
              <a:rPr lang="en" sz="1200">
                <a:solidFill>
                  <a:schemeClr val="dk1"/>
                </a:solidFill>
              </a:rPr>
              <a:t>Based on the system prompt, the module runs different functions, in this case it runs two function,</a:t>
            </a:r>
            <a:endParaRPr sz="1200">
              <a:solidFill>
                <a:schemeClr val="dk1"/>
              </a:solidFill>
            </a:endParaRPr>
          </a:p>
          <a:p>
            <a:pPr marL="914400" lvl="1" indent="-304800" algn="l" rtl="0">
              <a:spcBef>
                <a:spcPts val="0"/>
              </a:spcBef>
              <a:spcAft>
                <a:spcPts val="0"/>
              </a:spcAft>
              <a:buClr>
                <a:schemeClr val="dk1"/>
              </a:buClr>
              <a:buSzPts val="1200"/>
              <a:buChar char="○"/>
            </a:pPr>
            <a:r>
              <a:rPr lang="en" sz="1200">
                <a:solidFill>
                  <a:schemeClr val="dk1"/>
                </a:solidFill>
              </a:rPr>
              <a:t>Function1 : Home the Robot</a:t>
            </a:r>
            <a:endParaRPr sz="1200">
              <a:solidFill>
                <a:schemeClr val="dk1"/>
              </a:solidFill>
            </a:endParaRPr>
          </a:p>
          <a:p>
            <a:pPr marL="914400" lvl="1" indent="-304800" algn="l" rtl="0">
              <a:spcBef>
                <a:spcPts val="0"/>
              </a:spcBef>
              <a:spcAft>
                <a:spcPts val="0"/>
              </a:spcAft>
              <a:buClr>
                <a:schemeClr val="dk1"/>
              </a:buClr>
              <a:buSzPts val="1200"/>
              <a:buChar char="○"/>
            </a:pPr>
            <a:r>
              <a:rPr lang="en" sz="1200">
                <a:solidFill>
                  <a:schemeClr val="dk1"/>
                </a:solidFill>
              </a:rPr>
              <a:t>Function2: Capture the scene.</a:t>
            </a:r>
            <a:endParaRPr sz="1200">
              <a:solidFill>
                <a:schemeClr val="dk1"/>
              </a:solidFill>
            </a:endParaRPr>
          </a:p>
          <a:p>
            <a:pPr marL="0" lvl="0" indent="0" algn="l" rtl="0">
              <a:spcBef>
                <a:spcPts val="1200"/>
              </a:spcBef>
              <a:spcAft>
                <a:spcPts val="1200"/>
              </a:spcAft>
              <a:buNone/>
            </a:pPr>
            <a:r>
              <a:rPr lang="en" sz="1200">
                <a:solidFill>
                  <a:schemeClr val="dk1"/>
                </a:solidFill>
              </a:rPr>
              <a:t>These functions are defined in the tools folder.	</a:t>
            </a:r>
            <a:endParaRPr sz="1200">
              <a:solidFill>
                <a:schemeClr val="dk1"/>
              </a:solidFill>
            </a:endParaRPr>
          </a:p>
        </p:txBody>
      </p:sp>
      <p:pic>
        <p:nvPicPr>
          <p:cNvPr id="112" name="Google Shape;112;p21"/>
          <p:cNvPicPr preferRelativeResize="0"/>
          <p:nvPr/>
        </p:nvPicPr>
        <p:blipFill>
          <a:blip r:embed="rId3">
            <a:alphaModFix/>
          </a:blip>
          <a:stretch>
            <a:fillRect/>
          </a:stretch>
        </p:blipFill>
        <p:spPr>
          <a:xfrm>
            <a:off x="3176150" y="3181725"/>
            <a:ext cx="5752074" cy="1718775"/>
          </a:xfrm>
          <a:prstGeom prst="rect">
            <a:avLst/>
          </a:prstGeom>
          <a:noFill/>
          <a:ln>
            <a:noFill/>
          </a:ln>
        </p:spPr>
      </p:pic>
      <p:pic>
        <p:nvPicPr>
          <p:cNvPr id="113" name="Google Shape;113;p21"/>
          <p:cNvPicPr preferRelativeResize="0"/>
          <p:nvPr/>
        </p:nvPicPr>
        <p:blipFill>
          <a:blip r:embed="rId4">
            <a:alphaModFix/>
          </a:blip>
          <a:stretch>
            <a:fillRect/>
          </a:stretch>
        </p:blipFill>
        <p:spPr>
          <a:xfrm>
            <a:off x="152400" y="2402575"/>
            <a:ext cx="2733895" cy="25885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Config File - </a:t>
            </a:r>
            <a:r>
              <a:rPr lang="en" sz="2200" b="1">
                <a:highlight>
                  <a:srgbClr val="FFFF00"/>
                </a:highlight>
              </a:rPr>
              <a:t>MAKE CHANGES ACCORDINGLY </a:t>
            </a:r>
            <a:endParaRPr sz="2200" b="1">
              <a:highlight>
                <a:srgbClr val="FFFF00"/>
              </a:highlight>
            </a:endParaRPr>
          </a:p>
          <a:p>
            <a:pPr marL="0" lvl="0" indent="0" algn="l" rtl="0">
              <a:spcBef>
                <a:spcPts val="0"/>
              </a:spcBef>
              <a:spcAft>
                <a:spcPts val="0"/>
              </a:spcAft>
              <a:buNone/>
            </a:pPr>
            <a:endParaRPr/>
          </a:p>
        </p:txBody>
      </p:sp>
      <p:sp>
        <p:nvSpPr>
          <p:cNvPr id="126" name="Google Shape;126;p23"/>
          <p:cNvSpPr txBox="1">
            <a:spLocks noGrp="1"/>
          </p:cNvSpPr>
          <p:nvPr>
            <p:ph type="body" idx="1"/>
          </p:nvPr>
        </p:nvSpPr>
        <p:spPr>
          <a:xfrm>
            <a:off x="311700" y="1152475"/>
            <a:ext cx="3801600" cy="19716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Char char="●"/>
            </a:pPr>
            <a:r>
              <a:rPr lang="en" sz="1200">
                <a:solidFill>
                  <a:schemeClr val="dk1"/>
                </a:solidFill>
              </a:rPr>
              <a:t>The most important file, where each parameter has to set accordingly to your robot.</a:t>
            </a:r>
            <a:endParaRPr sz="1200">
              <a:solidFill>
                <a:schemeClr val="dk1"/>
              </a:solidFill>
            </a:endParaRPr>
          </a:p>
          <a:p>
            <a:pPr marL="457200" lvl="0" indent="-304800" algn="l" rtl="0">
              <a:spcBef>
                <a:spcPts val="0"/>
              </a:spcBef>
              <a:spcAft>
                <a:spcPts val="0"/>
              </a:spcAft>
              <a:buClr>
                <a:schemeClr val="dk1"/>
              </a:buClr>
              <a:buSzPts val="1200"/>
              <a:buChar char="●"/>
            </a:pPr>
            <a:r>
              <a:rPr lang="en" sz="1200">
                <a:solidFill>
                  <a:schemeClr val="dk1"/>
                </a:solidFill>
              </a:rPr>
              <a:t>The M (affine matrix) is defined as the last column of list the x and y coordinates.</a:t>
            </a:r>
            <a:endParaRPr sz="1200">
              <a:solidFill>
                <a:schemeClr val="dk1"/>
              </a:solidFill>
            </a:endParaRPr>
          </a:p>
          <a:p>
            <a:pPr marL="457200" lvl="0" indent="-304800" algn="l" rtl="0">
              <a:spcBef>
                <a:spcPts val="0"/>
              </a:spcBef>
              <a:spcAft>
                <a:spcPts val="0"/>
              </a:spcAft>
              <a:buClr>
                <a:schemeClr val="dk1"/>
              </a:buClr>
              <a:buSzPts val="1200"/>
              <a:buChar char="●"/>
            </a:pPr>
            <a:r>
              <a:rPr lang="en" sz="1200">
                <a:solidFill>
                  <a:schemeClr val="dk1"/>
                </a:solidFill>
              </a:rPr>
              <a:t>In this example, x = 380.65, and y = 155.34</a:t>
            </a:r>
            <a:endParaRPr sz="1200">
              <a:solidFill>
                <a:schemeClr val="dk1"/>
              </a:solidFill>
            </a:endParaRPr>
          </a:p>
          <a:p>
            <a:pPr marL="457200" lvl="0" indent="-304800" algn="l" rtl="0">
              <a:spcBef>
                <a:spcPts val="0"/>
              </a:spcBef>
              <a:spcAft>
                <a:spcPts val="0"/>
              </a:spcAft>
              <a:buClr>
                <a:schemeClr val="dk1"/>
              </a:buClr>
              <a:buSzPts val="1200"/>
              <a:buChar char="●"/>
            </a:pPr>
            <a:r>
              <a:rPr lang="en" sz="1200">
                <a:solidFill>
                  <a:schemeClr val="dk1"/>
                </a:solidFill>
              </a:rPr>
              <a:t>Change these values if there is a constant offset in your robot points.</a:t>
            </a:r>
            <a:endParaRPr sz="1200">
              <a:solidFill>
                <a:schemeClr val="dk1"/>
              </a:solidFill>
            </a:endParaRPr>
          </a:p>
        </p:txBody>
      </p:sp>
      <p:pic>
        <p:nvPicPr>
          <p:cNvPr id="127" name="Google Shape;127;p23"/>
          <p:cNvPicPr preferRelativeResize="0"/>
          <p:nvPr/>
        </p:nvPicPr>
        <p:blipFill>
          <a:blip r:embed="rId3">
            <a:alphaModFix/>
          </a:blip>
          <a:stretch>
            <a:fillRect/>
          </a:stretch>
        </p:blipFill>
        <p:spPr>
          <a:xfrm>
            <a:off x="4213100" y="1393025"/>
            <a:ext cx="4821226" cy="32592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Robot Motion - </a:t>
            </a:r>
            <a:r>
              <a:rPr lang="en" sz="2200" b="1">
                <a:highlight>
                  <a:srgbClr val="FFFF00"/>
                </a:highlight>
              </a:rPr>
              <a:t>MAKE CHANGES ACCORDINGLY </a:t>
            </a:r>
            <a:endParaRPr sz="2200" b="1">
              <a:highlight>
                <a:srgbClr val="FFFF00"/>
              </a:highlight>
            </a:endParaRPr>
          </a:p>
          <a:p>
            <a:pPr marL="0" lvl="0" indent="0" algn="l" rtl="0">
              <a:spcBef>
                <a:spcPts val="0"/>
              </a:spcBef>
              <a:spcAft>
                <a:spcPts val="0"/>
              </a:spcAft>
              <a:buNone/>
            </a:pPr>
            <a:endParaRPr/>
          </a:p>
        </p:txBody>
      </p:sp>
      <p:sp>
        <p:nvSpPr>
          <p:cNvPr id="133" name="Google Shape;133;p24"/>
          <p:cNvSpPr txBox="1">
            <a:spLocks noGrp="1"/>
          </p:cNvSpPr>
          <p:nvPr>
            <p:ph type="body" idx="1"/>
          </p:nvPr>
        </p:nvSpPr>
        <p:spPr>
          <a:xfrm>
            <a:off x="311700" y="1152475"/>
            <a:ext cx="8293800" cy="3133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Char char="●"/>
            </a:pPr>
            <a:r>
              <a:rPr lang="en" sz="1200" dirty="0">
                <a:solidFill>
                  <a:schemeClr val="dk1"/>
                </a:solidFill>
              </a:rPr>
              <a:t>The given code assumes MODE.PTP function of dobot works for you.</a:t>
            </a:r>
            <a:endParaRPr sz="1200" dirty="0">
              <a:solidFill>
                <a:schemeClr val="dk1"/>
              </a:solidFill>
            </a:endParaRPr>
          </a:p>
          <a:p>
            <a:pPr marL="457200" lvl="0" indent="-304800" algn="l" rtl="0">
              <a:spcBef>
                <a:spcPts val="0"/>
              </a:spcBef>
              <a:spcAft>
                <a:spcPts val="0"/>
              </a:spcAft>
              <a:buClr>
                <a:schemeClr val="dk1"/>
              </a:buClr>
              <a:buSzPts val="1200"/>
              <a:buChar char="●"/>
            </a:pPr>
            <a:r>
              <a:rPr lang="en" sz="1200" dirty="0">
                <a:solidFill>
                  <a:schemeClr val="dk1"/>
                </a:solidFill>
              </a:rPr>
              <a:t>If this code gives error regarding the MODE.PTP, then change the robot motion functions accordingly as done in previous labs.</a:t>
            </a:r>
            <a:endParaRPr sz="1200" dirty="0">
              <a:solidFill>
                <a:schemeClr val="dk1"/>
              </a:solidFill>
            </a:endParaRPr>
          </a:p>
          <a:p>
            <a:pPr marL="0" lvl="0" indent="0" algn="l" rtl="0">
              <a:spcBef>
                <a:spcPts val="1200"/>
              </a:spcBef>
              <a:spcAft>
                <a:spcPts val="0"/>
              </a:spcAft>
              <a:buNone/>
            </a:pPr>
            <a:r>
              <a:rPr lang="en" sz="1200" dirty="0">
                <a:solidFill>
                  <a:schemeClr val="dk1"/>
                </a:solidFill>
              </a:rPr>
              <a:t>The things that will change in your Robot_Motion_Tools.py file:</a:t>
            </a:r>
            <a:endParaRPr sz="1200" dirty="0">
              <a:solidFill>
                <a:schemeClr val="dk1"/>
              </a:solidFill>
            </a:endParaRPr>
          </a:p>
          <a:p>
            <a:pPr marL="457200" lvl="0" indent="-304800" algn="l" rtl="0">
              <a:spcBef>
                <a:spcPts val="1200"/>
              </a:spcBef>
              <a:spcAft>
                <a:spcPts val="0"/>
              </a:spcAft>
              <a:buClr>
                <a:schemeClr val="dk1"/>
              </a:buClr>
              <a:buSzPts val="1200"/>
              <a:buAutoNum type="arabicParenR"/>
            </a:pPr>
            <a:r>
              <a:rPr lang="en" sz="1200" dirty="0">
                <a:solidFill>
                  <a:schemeClr val="dk1"/>
                </a:solidFill>
              </a:rPr>
              <a:t>You wont have device.home(): Sol - Use device.move_to(x=240,y=0,z=150) for home. Note even these values might might be the actual home. You can fine tune these values.</a:t>
            </a:r>
            <a:endParaRPr sz="1200" dirty="0">
              <a:solidFill>
                <a:schemeClr val="dk1"/>
              </a:solidFill>
            </a:endParaRPr>
          </a:p>
          <a:p>
            <a:pPr marL="457200" lvl="0" indent="-304800" algn="l" rtl="0">
              <a:spcBef>
                <a:spcPts val="0"/>
              </a:spcBef>
              <a:spcAft>
                <a:spcPts val="0"/>
              </a:spcAft>
              <a:buClr>
                <a:schemeClr val="dk1"/>
              </a:buClr>
              <a:buSzPts val="1200"/>
              <a:buAutoNum type="arabicParenR"/>
            </a:pPr>
            <a:r>
              <a:rPr lang="en" sz="1200" dirty="0">
                <a:solidFill>
                  <a:schemeClr val="dk1"/>
                </a:solidFill>
              </a:rPr>
              <a:t>Instead of using : </a:t>
            </a:r>
            <a:r>
              <a:rPr lang="en" sz="1200" b="1" dirty="0">
                <a:solidFill>
                  <a:schemeClr val="dk1"/>
                </a:solidFill>
              </a:rPr>
              <a:t>dev.move_to(mode=int(MODE_PTP.MOVJ_XYZ), x=x, y=y, z=z, r=r) </a:t>
            </a:r>
            <a:r>
              <a:rPr lang="en" sz="1200" dirty="0">
                <a:solidFill>
                  <a:schemeClr val="dk1"/>
                </a:solidFill>
              </a:rPr>
              <a:t>Use only , dev.move_to(x, y, z, r)</a:t>
            </a:r>
            <a:endParaRPr sz="1200" dirty="0">
              <a:solidFill>
                <a:schemeClr val="dk1"/>
              </a:solidFill>
            </a:endParaRPr>
          </a:p>
          <a:p>
            <a:pPr marL="457200" lvl="0" indent="-304800" algn="l" rtl="0">
              <a:lnSpc>
                <a:spcPct val="135000"/>
              </a:lnSpc>
              <a:spcBef>
                <a:spcPts val="0"/>
              </a:spcBef>
              <a:spcAft>
                <a:spcPts val="0"/>
              </a:spcAft>
              <a:buClr>
                <a:schemeClr val="dk1"/>
              </a:buClr>
              <a:buSzPts val="1200"/>
              <a:buAutoNum type="arabicParenR"/>
            </a:pPr>
            <a:r>
              <a:rPr lang="en" sz="1200" dirty="0">
                <a:solidFill>
                  <a:schemeClr val="dk1"/>
                </a:solidFill>
              </a:rPr>
              <a:t>Remove this command:</a:t>
            </a:r>
            <a:r>
              <a:rPr lang="en" sz="1200" b="1" dirty="0">
                <a:solidFill>
                  <a:schemeClr val="dk1"/>
                </a:solidFill>
              </a:rPr>
              <a:t>dev.speed(50, 50)</a:t>
            </a:r>
            <a:endParaRPr sz="1500" b="1" dirty="0">
              <a:solidFill>
                <a:srgbClr val="CCCCCC"/>
              </a:solidFill>
              <a:highlight>
                <a:srgbClr val="1F1F1F"/>
              </a:highlight>
              <a:latin typeface="Courier New"/>
              <a:ea typeface="Courier New"/>
              <a:cs typeface="Courier New"/>
              <a:sym typeface="Courier New"/>
            </a:endParaRPr>
          </a:p>
          <a:p>
            <a:pPr marL="457200" lvl="0" indent="-304800" algn="l" rtl="0">
              <a:spcBef>
                <a:spcPts val="0"/>
              </a:spcBef>
              <a:spcAft>
                <a:spcPts val="0"/>
              </a:spcAft>
              <a:buClr>
                <a:schemeClr val="dk1"/>
              </a:buClr>
              <a:buSzPts val="1200"/>
              <a:buAutoNum type="arabicParenR"/>
            </a:pPr>
            <a:r>
              <a:rPr lang="en" sz="1200" dirty="0">
                <a:solidFill>
                  <a:schemeClr val="dk1"/>
                </a:solidFill>
              </a:rPr>
              <a:t>Instead of :  </a:t>
            </a:r>
            <a:r>
              <a:rPr lang="en" sz="1200" b="1" dirty="0">
                <a:solidFill>
                  <a:schemeClr val="dk1"/>
                </a:solidFill>
              </a:rPr>
              <a:t>pose, joint = dev.get_pose()</a:t>
            </a:r>
            <a:r>
              <a:rPr lang="en" sz="1200" dirty="0">
                <a:solidFill>
                  <a:schemeClr val="dk1"/>
                </a:solidFill>
              </a:rPr>
              <a:t>, use </a:t>
            </a:r>
            <a:r>
              <a:rPr lang="en" sz="1200" b="1" dirty="0">
                <a:solidFill>
                  <a:schemeClr val="dk1"/>
                </a:solidFill>
              </a:rPr>
              <a:t>.pose</a:t>
            </a:r>
            <a:endParaRPr sz="1500" b="1" dirty="0">
              <a:solidFill>
                <a:srgbClr val="CCCCCC"/>
              </a:solidFill>
              <a:highlight>
                <a:srgbClr val="1F1F1F"/>
              </a:highlight>
              <a:latin typeface="Courier New"/>
              <a:ea typeface="Courier New"/>
              <a:cs typeface="Courier New"/>
              <a:sym typeface="Courier New"/>
            </a:endParaRPr>
          </a:p>
          <a:p>
            <a:pPr marL="457200" lvl="0" indent="0" algn="l" rtl="0">
              <a:spcBef>
                <a:spcPts val="1200"/>
              </a:spcBef>
              <a:spcAft>
                <a:spcPts val="0"/>
              </a:spcAft>
              <a:buNone/>
            </a:pPr>
            <a:endParaRPr sz="1200" dirty="0">
              <a:solidFill>
                <a:schemeClr val="dk1"/>
              </a:solidFill>
            </a:endParaRPr>
          </a:p>
          <a:p>
            <a:pPr marL="0" lvl="0" indent="0" algn="l" rtl="0">
              <a:spcBef>
                <a:spcPts val="1200"/>
              </a:spcBef>
              <a:spcAft>
                <a:spcPts val="1200"/>
              </a:spcAft>
              <a:buNone/>
            </a:pPr>
            <a:endParaRPr sz="1200" dirty="0">
              <a:solidFill>
                <a:schemeClr val="dk1"/>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795</Words>
  <Application>Microsoft Office PowerPoint</Application>
  <PresentationFormat>On-screen Show (16:9)</PresentationFormat>
  <Paragraphs>61</Paragraphs>
  <Slides>11</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Courier New</vt:lpstr>
      <vt:lpstr>Times New Roman</vt:lpstr>
      <vt:lpstr>Simple Light</vt:lpstr>
      <vt:lpstr>Project 2</vt:lpstr>
      <vt:lpstr>Project Goals:</vt:lpstr>
      <vt:lpstr>Using Gemini APIs</vt:lpstr>
      <vt:lpstr>Using Gemini APIs</vt:lpstr>
      <vt:lpstr>Using Gemini APIs</vt:lpstr>
      <vt:lpstr>Files</vt:lpstr>
      <vt:lpstr>Task 1 - Block Detection - MAKE CHANGES ACCORDINGLY  </vt:lpstr>
      <vt:lpstr>Task 2 - Understanding the scene </vt:lpstr>
      <vt:lpstr>Task 2 - Understanding the scene </vt:lpstr>
      <vt:lpstr>Config File - MAKE CHANGES ACCORDINGLY  </vt:lpstr>
      <vt:lpstr>Robot Motion - MAKE CHANGES ACCORDINGLY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nasrm</dc:creator>
  <cp:lastModifiedBy>nasrmohammad441@gmail.com</cp:lastModifiedBy>
  <cp:revision>4</cp:revision>
  <dcterms:modified xsi:type="dcterms:W3CDTF">2026-04-09T03:43:36Z</dcterms:modified>
</cp:coreProperties>
</file>